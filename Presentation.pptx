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DDDDD"/>
                </a:solidFill>
                <a:latin typeface="Times New Roman"/>
              </a:rPr>
              <a:t>Қазақстан Республикасы Ғылым және жоғары білім министрлігі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Х. Досмұхамедов атындағы Атырау университеті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DDDDD"/>
                </a:solidFill>
                <a:latin typeface="Times New Roman"/>
              </a:rPr>
              <a:t>МАГИСТРЛІК ДИССЕРТАЦИЯ  •  Қорғау презентациясы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222222"/>
                </a:solidFill>
                <a:latin typeface="Times New Roman"/>
              </a:rPr>
              <a:t>Тақырыбы: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Times New Roman"/>
              </a:rPr>
              <a:t>АУТОДЕСТРУКТИВТІ МІНЕЗ-ҚҰЛЫҚ ЖӘНЕ ОНЫҢ АЛДЫН АЛУ ЖОЛДАРЫ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Times New Roman"/>
              </a:rPr>
              <a:t>Магистрант:  Төкенова Шынар Кадимқызы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2222"/>
                </a:solidFill>
                <a:latin typeface="Times New Roman"/>
              </a:rPr>
              <a:t>Білім бағдарламасы:  7М01101 – Педагогика және психология (ғылыми-педагогикалық бағыт)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2222"/>
                </a:solidFill>
                <a:latin typeface="Times New Roman"/>
              </a:rPr>
              <a:t>Ғылыми жетекші:  Сабирова Ж.Н., психология ғылымының кандидаты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Times New Roman"/>
              </a:rPr>
              <a:t>Атырау, 2026 ж.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Зерттеудің өзектілігі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800" b="0">
                <a:solidFill>
                  <a:srgbClr val="222222"/>
                </a:solidFill>
                <a:latin typeface="Calibri"/>
              </a:rPr>
              <a:t>Қазіргі жаһандану жағдайында жасөспірімдер арасында эмоционалдық күйзеліс, ішкі қақтығыстар және өмірлік мағына дағдарысы жиі кездесіп, аутодеструктивті мінез-құлықтың таралуына әкелуде.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Көкейкесті мәселелер: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Жасөспірімдер арасында суицидтік ойлар мен өзіне зақым келтіру әрекеттерінің өсуі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Эмоционалдық тұрақсыздық, мазасыздық пен депрессиялық күйлердің кең таралуы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Буллинг, кибербуллинг және әлеуметтік оқшаулану жағдайларының жиілеуі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Білім беру ұйымдарында психологиялық қызметті жүйелендіру қажеттілігі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Отандық ғылымда мәселенің жеткіліксіз зерттелуі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Зерттеудің мақсаты мен міндеттері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3C3C"/>
                </a:solidFill>
                <a:latin typeface="Calibri"/>
              </a:rPr>
              <a:t>Мақсаты: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700" b="0">
                <a:solidFill>
                  <a:srgbClr val="222222"/>
                </a:solidFill>
                <a:latin typeface="Calibri"/>
              </a:rPr>
              <a:t>Аутодеструктивті мінез-құлықтың психологиялық ерекшеліктерін анықтау және оның алдын алудың тиімді психологиялық-педагогикалық жолдарын ғылыми тұрғыда негіздеу.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3C3C"/>
                </a:solidFill>
                <a:latin typeface="Calibri"/>
              </a:rPr>
              <a:t>Міндеттері: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Аутодеструктивті мінез-құлық ұғымының теориялық негіздерін талдау, түрлері мен факторларын жүйелеу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Жас кезеңдеріне байланысты аутодеструктивті мінез-құлықтың көріністерін анықтау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Аутодеструктивті мінез-құлықты диагностикалаудың психологиялық әдістерін сипаттау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Аутодеструктивті мінез-құлықтың алдын алуға бағытталған психологиялық жұмыстың мазмұнын айқындау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Зерттеу нысаны, пәні және әдіснамасы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77840" cy="146304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Зерттеу нысаны: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Жеке тұлғаның мінез-құлық жүйесі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577840" cy="146304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Зерттеу пәні: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Аутодеструктивті мінез-құлықтың психологиялық ерекшеліктері мен алдын алу жолдары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3C3C"/>
                </a:solidFill>
                <a:latin typeface="Calibri"/>
              </a:rPr>
              <a:t>Әдіснамалық негіздер: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Жүйелілік қағидасы — мінез-құлықты кешенді қарастыру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Детерминизм қағидасы — әр әрекеттің себебі бар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Даму қағидасы — мінез-құлық уақыт өте өзгереді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Гуманистік қағида — зерттеу зиян келтірмеуі тиіс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3C3C"/>
                </a:solidFill>
                <a:latin typeface="Calibri"/>
              </a:rPr>
              <a:t>Әдістер: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теориялық талдау • бақылау • әңгімелесу • сауалнама • психодиагностика • сандық және сапалық талдау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Ғылыми және практикалық маңыздылығы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Ғылыми маңыздылығы: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Аутодеструктивті мінез-құлық мәселесі бойынша психологиялық білім қорын толықтыру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Қалыптасу механизмдерін тереңірек түсінуге мүмкіндік беретін құрылымдық-функционалдық модель ұсыну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Қазақстандық контекстегі теориялық-әдіснамалық негіздерді жүйелеу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3C3C"/>
                </a:solidFill>
                <a:latin typeface="Calibri"/>
              </a:rPr>
              <a:t>Практикалық маңыздылығы: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Білім беру ұйымдарындағы психологиялық қызметте қолдануға жарамды диагностикалық карта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«Зорлық-зомбылықсыз мектеп – қауіпсіз орта» профилактикалық бағдарламасы (34 сағат)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Мектеп психологтары, педагогтар, ата-аналармен жұмыс жүргізуге арналған әдістемелік материал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Аутодеструктивті мінез-құлықтың теориялық негіздері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700" b="0">
                <a:solidFill>
                  <a:srgbClr val="222222"/>
                </a:solidFill>
                <a:latin typeface="Calibri"/>
              </a:rPr>
              <a:t>Аутодеструктивті мінез-құлық — тұлғаның саналы немесе бейсаналы түрде өз денесіне, психикасына немесе әлеуметтік мәртебесіне зиян келтіретін мінез-құлық формаларының жиынтығы.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Негізгі теориялық бағыттар: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5486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3C3C"/>
                </a:solidFill>
                <a:latin typeface="Calibri"/>
              </a:rPr>
              <a:t>Психоаналитикалық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Агрессияның өзіне бағытталуы, кінә сезімі, бейсаналық жазалау (З.Фрейд, К.Меннингер)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00400"/>
            <a:ext cx="5486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291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3C3C"/>
                </a:solidFill>
                <a:latin typeface="Calibri"/>
              </a:rPr>
              <a:t>Гуманистік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033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Өзін-өзі жүзеге асыру қажеттілігінің қанағаттанбауы, өмірлік мағынаның бұзылуы (А.Маслоу, В.Франкл)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5486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3C3C"/>
                </a:solidFill>
                <a:latin typeface="Calibri"/>
              </a:rPr>
              <a:t>Когнитивтік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9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Иррационалды ойлау, когнитивтік триада, теріс схемалар (А.Бек)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846320"/>
            <a:ext cx="5486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3C3C"/>
                </a:solidFill>
                <a:latin typeface="Calibri"/>
              </a:rPr>
              <a:t>Әлеуметтік-психологиялық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349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Әлеуметтік байланыстардың әлсіреуі, оқшаулану, қажетсіздік сезімі (Э.Дюркгейм, T.Joiner, Э.Шнейдман)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Аутодеструктивті мінез-құлықтың түрлері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Суицидтік мінез-құлық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Өз еркімен өмірден кетуге бағытталған ойлар, ниеттер және әрекеттер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Self-harm (өзіне зақым келтіру)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Суицидтік мақсатсыз денеге физикалық зиян келтіру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37560"/>
            <a:ext cx="548640" cy="548640"/>
          </a:xfrm>
          <a:prstGeom prst="ellips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Аддиктивті мінез-құлық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Алкоголь, есірткі, ойын, интернет және басқа тәуелділіктер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43400"/>
            <a:ext cx="548640" cy="548640"/>
          </a:xfrm>
          <a:prstGeom prst="ellips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Тәуекелді мінез-құлық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Өмір мен денсаулыққа қауіп төндіретін саналы әрекеттер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349240"/>
            <a:ext cx="548640" cy="548640"/>
          </a:xfrm>
          <a:prstGeom prst="ellips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Психосоматикалық аутодеструкция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Психологиялық күйзелістің дене аурулары арқылы көрініс беруі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Қалыптасу факторлары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Биологиялық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жүйке жүйесі, нейрофизиология, тұқымқуалаушылық, серотонин деңгейі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86400" cy="2377440"/>
          </a:xfrm>
          <a:prstGeom prst="roundRect">
            <a:avLst/>
          </a:prstGeom>
          <a:solidFill>
            <a:srgbClr val="E8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Психологиялық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төмен өзін-өзі бағалау, депрессия, мазасыздық, фрустрацияға төзімсіздік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7AB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Әлеуметтік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отбасылық қатынастар, мектеп ортасы, буллинг, құрдастар ықпалы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5486400" cy="2377440"/>
          </a:xfrm>
          <a:prstGeom prst="roundRect">
            <a:avLst/>
          </a:prstGeom>
          <a:solidFill>
            <a:srgbClr val="7A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Мәдени-құндылықтық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табыс культі, эмоцияны ашық білдірмеу дәстүрі, БАҚ пен цифрлық орта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Құрылымдық-функционалдық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Calibri"/>
              </a:rPr>
              <a:t>Аутодеструктивті мінез-құлықтың қалыптасуының төрт деңгейлі моделі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9418320" cy="9144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Макроәлеуметтік деңгей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қоғамдық құндылықтар, мәдени орта, әлеуметтік-экономикалық жағдай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2560320"/>
            <a:ext cx="365760" cy="228600"/>
          </a:xfrm>
          <a:prstGeom prst="downArrow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834640"/>
            <a:ext cx="9418320" cy="914400"/>
          </a:xfrm>
          <a:prstGeom prst="roundRect">
            <a:avLst/>
          </a:prstGeom>
          <a:solidFill>
            <a:srgbClr val="3B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Әлеуметтік орта деңгейі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отбасы, мектеп ортасы, құрдастар тобы, әлеуметтік қолдау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52160" y="3749040"/>
            <a:ext cx="365760" cy="228600"/>
          </a:xfrm>
          <a:prstGeom prst="downArrow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023360"/>
            <a:ext cx="9418320" cy="914400"/>
          </a:xfrm>
          <a:prstGeom prst="roundRect">
            <a:avLst/>
          </a:prstGeom>
          <a:solidFill>
            <a:srgbClr val="57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Тұлғалық-психологиялық деңгей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өзін-өзі бағалау, эмоционалдық тұрақтылық, стресс, дағдарыстар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52160" y="4937760"/>
            <a:ext cx="365760" cy="228600"/>
          </a:xfrm>
          <a:prstGeom prst="downArrow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5212080"/>
            <a:ext cx="9418320" cy="914400"/>
          </a:xfrm>
          <a:prstGeom prst="round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Мінез-құлықтық деңгей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өзін-өзі жарақаттау, суицидтік ойлар, тәуекелді мінез-құлық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Эмпирикалық зерттеуді ұйымдастыру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Зерттеу базасы: жалпы білім беретін мектеп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Қатысушылар: 7–9 сынып оқушылары (30 оқушы, 13–15 жас)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3C3C"/>
                </a:solidFill>
                <a:latin typeface="Calibri"/>
              </a:rPr>
              <a:t>Зерттеу кезеңдері: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Дайындық кезеңі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Теориялық талдау, диагностикалық құралдарды таңдау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56432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95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56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Бастапқы диагностика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564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4 психодиагностикалық әдістеме бойынша зерттеу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69664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428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696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Нәтижелерді талдау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16966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Сандық және сапалық талдау, тәуекел тобын анықтау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882896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56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828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Психологиялық қолдау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8289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Профилактикалық бағдарламаны іске асыру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596128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596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Қорытынды диагностика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59612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Қайта диагностика, тиімділікті бағалау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Қолданылған психодиагностикалық әдістемелер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3C3C"/>
                </a:solidFill>
                <a:latin typeface="Calibri"/>
              </a:rPr>
              <a:t>М.Розенберг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Өзін-өзі бағалау шкаласы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Тұлғаның өзін қабылдау деңгейін анықтау (10 тұжырым)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47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3C3C"/>
                </a:solidFill>
                <a:latin typeface="Calibri"/>
              </a:rPr>
              <a:t>А.Бек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Депрессия шкаласы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97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Эмоционалдық күй, өмірлік қызығушылық, депрессия деңгейі (21 сұрақ)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247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3C3C"/>
                </a:solidFill>
                <a:latin typeface="Calibri"/>
              </a:rPr>
              <a:t>Ч.Спилбергер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Мазасыздық тесті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931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Ситуативті және тұлғалық мазасыздық деңгейі (40 сұрақ)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92040"/>
            <a:ext cx="11247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3C3C"/>
                </a:solidFill>
                <a:latin typeface="Calibri"/>
              </a:rPr>
              <a:t>А.Басса–А.Дарки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Агрессия сауалнамасы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166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Агрессияның 8 түрі: физикалық, вербалды, жанама, кінә т.б.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Зерттеу нәтижелері — негізгі көрсеткіштер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1148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Әдістеме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237744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Төмен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188720"/>
            <a:ext cx="27432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Орташа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188720"/>
            <a:ext cx="201168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Жоғары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9164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Өзін-өзі бағалау (Розенберг)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69164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26%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691640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56%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69164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411480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86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Депрессия (Бек)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194560"/>
            <a:ext cx="237744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40% (жоқ)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194560"/>
            <a:ext cx="274320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50% (жеңіл+орта)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194560"/>
            <a:ext cx="201168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10% (айқын)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9748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88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Мазасыздық (Спилбергер)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697480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23%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2697480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54%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269748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23%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11480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291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Агрессия (Басса-Дарки)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200400"/>
            <a:ext cx="237744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30%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3200400"/>
            <a:ext cx="274320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47%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200400"/>
            <a:ext cx="2011680" cy="502920"/>
          </a:xfrm>
          <a:prstGeom prst="rect">
            <a:avLst/>
          </a:prstGeom>
          <a:solidFill>
            <a:srgbClr val="F0F4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23%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3C3C"/>
                </a:solidFill>
                <a:latin typeface="Calibri"/>
              </a:rPr>
              <a:t>Тәуекел топтары: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754880"/>
            <a:ext cx="3657600" cy="1371600"/>
          </a:xfrm>
          <a:prstGeom prst="round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846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Жоғары тәуекел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4754880"/>
            <a:ext cx="3657600" cy="1371600"/>
          </a:xfrm>
          <a:prstGeom prst="roundRect">
            <a:avLst/>
          </a:prstGeom>
          <a:solidFill>
            <a:srgbClr val="E9A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4846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Орташа тәуекел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21040" y="4754880"/>
            <a:ext cx="365760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4846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Төмен тәуекел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Эмпирикалық зерттеудің қорытындысы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Тәуекел тобындағы оқушыларда қатар байқалған психологиялық факторлар: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640080" y="1965960"/>
            <a:ext cx="365760" cy="365760"/>
          </a:xfrm>
          <a:prstGeom prst="rtTriangl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Төмен өзін-өзі бағалау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— сенімсіздік, әлеуметтік бейімделу қиындықтары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640080" y="2880360"/>
            <a:ext cx="365760" cy="365760"/>
          </a:xfrm>
          <a:prstGeom prst="rtTriangl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Депрессиялық күй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— эмоционалдық күйзеліс, үмітсіздік, мағынаның жоғалуы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640080" y="3794760"/>
            <a:ext cx="365760" cy="365760"/>
          </a:xfrm>
          <a:prstGeom prst="rtTriangl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Мазасыздықтың жоғары деңгейі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— стресс жағдайларына жоғары сезімталдық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640080" y="4709160"/>
            <a:ext cx="365760" cy="365760"/>
          </a:xfrm>
          <a:prstGeom prst="rtTriangl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Агрессияның жоғары деңгейі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— эмоционалдық кернеу, әлеуметтік конфликтілер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640080" y="5623560"/>
            <a:ext cx="365760" cy="365760"/>
          </a:xfrm>
          <a:prstGeom prst="rtTriangle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Эмоционалдық тұрақсыздық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— импульсивтілік, эмоцияны реттеу дағдыларының әлсіздігі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«Зорлық-зомбылықсыз мектеп – қауіпсіз орта»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Calibri"/>
              </a:rPr>
              <a:t>Психологиялық профилактикалық бағдарлама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34 сағат  •  6 бөлім  •  апта сайын  •  7–9 сынып оқушылары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3749039" cy="54864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Бөлім 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Зорлық-зомбылық
туралы түсінік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3C3C"/>
                </a:solidFill>
                <a:latin typeface="Calibri"/>
              </a:rPr>
              <a:t>3 сағат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56032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560320"/>
            <a:ext cx="3749039" cy="54864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651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Бөлім ІІ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3246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Қарым-қатынас
мәдениеті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4069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3C3C"/>
                </a:solidFill>
                <a:latin typeface="Calibri"/>
              </a:rPr>
              <a:t>6 сағат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256032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2560320"/>
            <a:ext cx="3749039" cy="54864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651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Бөлім ІІІ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3246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Эмпатия және
толенттылық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4069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3C3C"/>
                </a:solidFill>
                <a:latin typeface="Calibri"/>
              </a:rPr>
              <a:t>6 сағат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3749039" cy="54864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Бөлім ІV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Буллинг және
кибербуллинг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3C3C"/>
                </a:solidFill>
                <a:latin typeface="Calibri"/>
              </a:rPr>
              <a:t>6 сағат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1688" y="461772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61688" y="4617720"/>
            <a:ext cx="3749039" cy="54864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4709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Бөлім 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53035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Өзін-өзі реттеу,
агрессияны басқару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3C3C"/>
                </a:solidFill>
                <a:latin typeface="Calibri"/>
              </a:rPr>
              <a:t>6 сағат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5" y="461772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66175" y="4617720"/>
            <a:ext cx="3749039" cy="54864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5" y="4709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Бөлім 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53035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Қауіпсіз мектеп
кеңістігі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5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3C3C"/>
                </a:solidFill>
                <a:latin typeface="Calibri"/>
              </a:rPr>
              <a:t>4+3 сағат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Бағдарламаны іске асыру әдістері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77840" cy="150876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Топтық және жеке тренингтер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Эмоционалдық интеллект, өзін-өзі реттеу дағдылары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577840" cy="150876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Рөлдік ойындар мен жағдаяттар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Конструктивті мінез-құлық үлгілерін сахналау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5577840" cy="150876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Арт-терапия (сурет, коллаж, постер)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Эмоцияны шығармашылық жолмен білдіру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577840" cy="150876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Релаксация және визуализация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Тыныс алу, денені босаңсыту, ішкі тепе-теңдікті қалпына келтіру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5577840" cy="150876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09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Пікірталас және дөңгелек үстел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57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Құндылықтық бағдар, саналы ұстаным қалыптастыру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572000"/>
            <a:ext cx="5577840" cy="1508760"/>
          </a:xfrm>
          <a:prstGeom prst="roundRect">
            <a:avLst/>
          </a:prstGeom>
          <a:solidFill>
            <a:srgbClr val="E3EA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Топтық жобалар («Достық клубы»)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Ұжымдық жауапкершілік пен бірлік мәдениеті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Зерттеудің негізгі тұжырымдары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Аутодеструктивті мінез-құлық – көпфакторлы, күрделі психологиялық құбылыс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Ұсынылған 4 деңгейлі құрылымдық-функционалдық модель феноменнің қалыптасу механизмдерін жүйелі түсіндіреді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971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Эмпирикалық зерттеу оқушылардың 23%-ы жоғары тәуекел тобына жататынын көрсетті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Негізгі психологиялық тәуекел факторлары – төмен өзін-өзі бағалау, депрессия, мазасыздық, агрессия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53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«Зорлық-зомбылықсыз мектеп» бағдарламасы тәуекел деңгейін төмендетуге тиімді әсер етті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766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440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Зерттеу нәтижелері мектеп психологының жұмысына практикалық негіз қалайды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НАЗАРЛАРЫҢЫЗҒА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93C3C"/>
                </a:solidFill>
                <a:latin typeface="Calibri"/>
              </a:rPr>
              <a:t>РАХМЕТ!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Сұрақтарыңызға жауап беруге дайынмын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